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Delinquency Rate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Business Card</c:v>
                  </c:pt>
                  <c:pt idx="1">
                    <c:v>Age 46–60</c:v>
                  </c:pt>
                  <c:pt idx="2">
                    <c:v>Los Angeles</c:v>
                  </c:pt>
                  <c:pt idx="3">
                    <c:v>Unemployed</c:v>
                  </c:pt>
                  <c:pt idx="4">
                    <c:v>Utilization &gt;30%</c:v>
                  </c:pt>
                  <c:pt idx="5">
                    <c:v>New York</c:v>
                  </c:pt>
                  <c:pt idx="6">
                    <c:v>Platinum Card</c:v>
                  </c:pt>
                  <c:pt idx="7">
                    <c:v>Retired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21.3</c:v>
                </c:pt>
                <c:pt idx="1">
                  <c:v>21.7</c:v>
                </c:pt>
                <c:pt idx="2">
                  <c:v>19.6</c:v>
                </c:pt>
                <c:pt idx="3">
                  <c:v>19.4</c:v>
                </c:pt>
                <c:pt idx="4">
                  <c:v>17</c:v>
                </c:pt>
                <c:pt idx="5">
                  <c:v>12</c:v>
                </c:pt>
                <c:pt idx="6">
                  <c:v>11.8</c:v>
                </c:pt>
                <c:pt idx="7">
                  <c:v>11.5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0C4C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Credit Utilization</c:v>
                  </c:pt>
                  <c:pt idx="1">
                    <c:v>Month_1 Status</c:v>
                  </c:pt>
                  <c:pt idx="2">
                    <c:v>Missed Payments</c:v>
                  </c:pt>
                  <c:pt idx="3">
                    <c:v>Debt-to-Income</c:v>
                  </c:pt>
                  <c:pt idx="4">
                    <c:v>Credit Score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85</c:v>
                </c:pt>
                <c:pt idx="2">
                  <c:v>78</c:v>
                </c:pt>
                <c:pt idx="3">
                  <c:v>71</c:v>
                </c:pt>
                <c:pt idx="4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FINANCIAL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Delinquency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&amp; Strategy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Insights · EDA Findings · Modeling Plan · Recommendations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822960"/>
            <a:ext cx="2651760" cy="3474720"/>
          </a:xfrm>
          <a:prstGeom prst="rect">
            <a:avLst/>
          </a:prstGeom>
          <a:solidFill>
            <a:srgbClr val="028090">
              <a:alpha val="2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172200" y="13898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172200" y="1828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17220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Delinquency Rate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72200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72200" y="30358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Drivers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72200" y="3474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72200" y="3858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|  Collections &amp; Risk Analytics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50292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20116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7099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quality, key patterns, and anomalies discovered in the Geldium dataset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60020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600200"/>
            <a:ext cx="50292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20116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17099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Segmentation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07568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borrower profiles by age, location, and credit utilization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00400"/>
            <a:ext cx="50292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6118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3101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Plan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67588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pipeline, feature engineering, and evaluation strategy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320040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200400"/>
            <a:ext cx="50292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818888" y="36118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33101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367588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interventions and ethical AI considerations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1097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4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Observations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2651760" cy="3200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54480"/>
            <a:ext cx="265176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Labels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21408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Employment_Status contains 5+ variants: "EMP", "employed", "Employed", "Self-employed". Splits categories and dilutes analysis.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2377440" cy="36576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03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Standardize to Employed / Self-employed / Unemployed / Retired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554480"/>
            <a:ext cx="2651760" cy="3200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554480"/>
            <a:ext cx="2651760" cy="45720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121408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(39 rows), Loan_Balance (29 rows), Credit_Score (2 rows) — approximately 8% of financial records incomplete.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0" y="3611880"/>
            <a:ext cx="2377440" cy="36576"/>
          </a:xfrm>
          <a:prstGeom prst="rect">
            <a:avLst/>
          </a:prstGeom>
          <a:solidFill>
            <a:srgbClr val="E05C5C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3703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Impute with median to preserve distribution integrity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1554480"/>
            <a:ext cx="2651760" cy="3200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554480"/>
            <a:ext cx="26517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/ Anomalies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121408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Credit_Utilization ranges 0.05–1.02. Values &gt;1.0 indicate customers exceeding credit limit — genuine high-risk signals.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611880"/>
            <a:ext cx="2377440" cy="36576"/>
          </a:xfrm>
          <a:prstGeom prst="rect">
            <a:avLst/>
          </a:prstGeom>
          <a:solidFill>
            <a:srgbClr val="028090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3703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Retain as valid signals; flag as extreme-risk indicator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663440"/>
            <a:ext cx="8321040" cy="310896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Counter-intuitive: Higher Credit Scores slightly correlate with HIGHER delinquency (avg 591 vs 575). Requires immediate data lineage investigation.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SEGMENTATION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1097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4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High-Risk Segments Identified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17320"/>
          <a:ext cx="52120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463040"/>
            <a:ext cx="3017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1463040"/>
            <a:ext cx="54864" cy="105156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9" name="Text 6"/>
          <p:cNvSpPr/>
          <p:nvPr/>
        </p:nvSpPr>
        <p:spPr>
          <a:xfrm>
            <a:off x="5989320" y="15544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21.7%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989320" y="1965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46–60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89320" y="21945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more likely to default vs. average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52160" y="2651760"/>
            <a:ext cx="3017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52160" y="265176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5989320" y="27432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19.6%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989320" y="3154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89320" y="3383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11.9% in New York (+65% higher)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852160" y="3840480"/>
            <a:ext cx="3017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52160" y="3840480"/>
            <a:ext cx="54864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5989320" y="39319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17.0%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5989320" y="43434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&gt;30%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89320" y="4572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cliff: 12% below threshold → 17% above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Categorical Drivers vs. Weak Continuous Signals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4813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RISK PREDICTORS (Categorical)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02336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659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Status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48840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Unemployed → 19.4% | Retired → 11.5%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50592"/>
            <a:ext cx="4023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4963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Type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48840" y="24963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→ 21.3% | Platinum → 11.8%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80944"/>
            <a:ext cx="402336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0266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48840" y="30266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 → 19.6% | New York → 12.0%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11296"/>
            <a:ext cx="4023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55701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48840" y="35570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46–60 → 21.7% (highest bracket)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041648"/>
            <a:ext cx="402336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0873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Band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48840" y="40873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cliff at 30% threshold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463040"/>
            <a:ext cx="402336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4813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/ ANOMALOUS SIGNALS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4023360" cy="612648"/>
          </a:xfrm>
          <a:prstGeom prst="rect">
            <a:avLst/>
          </a:prstGeom>
          <a:solidFill>
            <a:srgbClr val="FFFBF0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965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92040" y="21945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Counter-intuitive: delinquents avg 591 vs non-delinquents 575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587752"/>
            <a:ext cx="4023360" cy="6126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6334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28620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Weaker-than-expected correlation with default risk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255264"/>
            <a:ext cx="4023360" cy="612648"/>
          </a:xfrm>
          <a:prstGeom prst="rect">
            <a:avLst/>
          </a:prstGeom>
          <a:solidFill>
            <a:srgbClr val="FFFBF0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3009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Missed_Payments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2040" y="35295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show expected strong correlation in this sample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922776"/>
            <a:ext cx="4023360" cy="6126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968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Loan_Balance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41970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variance; less predictive on its own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617720"/>
            <a:ext cx="8412480" cy="329184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64515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Key Takeaway: Risk is more clearly segmented by categorical profiles (job status, card type, location) than by continuous financial metrics in this dataset.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1097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4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Pipeline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155448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724912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Income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Loan_Balance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74520" y="2651760"/>
            <a:ext cx="1143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88820" y="150876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88820" y="1508760"/>
            <a:ext cx="155448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98882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80260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80260" y="2724912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scoring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Month_1–6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43300" y="2651760"/>
            <a:ext cx="1143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150876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0" y="1508760"/>
            <a:ext cx="155448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749040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49040" y="2724912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split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12080" y="2651760"/>
            <a:ext cx="1143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26380" y="150876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26380" y="1508760"/>
            <a:ext cx="155448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532638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17820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SHAP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17820" y="2724912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/ Recall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metrics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compliance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80860" y="2651760"/>
            <a:ext cx="1143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5160" y="150876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95160" y="1508760"/>
            <a:ext cx="155448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9951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086600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086600" y="2724912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0–1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High Risk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collections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617720"/>
            <a:ext cx="8503920" cy="329184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XGBoost?  Higher Recall than Logistic Regression → catches more at-risk customers. SHAP values provide regulatory-compliant explainability.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DETAILS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Predictive Features &amp; Evaluation Strategy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3898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(Conceptual)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73736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669280" y="13898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0" y="1783080"/>
            <a:ext cx="3200400" cy="71323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9" name="Shape 6"/>
          <p:cNvSpPr/>
          <p:nvPr/>
        </p:nvSpPr>
        <p:spPr>
          <a:xfrm>
            <a:off x="5669280" y="1783080"/>
            <a:ext cx="54864" cy="7132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5806440" y="18562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06440" y="21305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 — separates safe vs. delinquent borrowers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69280" y="2560320"/>
            <a:ext cx="3200400" cy="71323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3" name="Shape 10"/>
          <p:cNvSpPr/>
          <p:nvPr/>
        </p:nvSpPr>
        <p:spPr>
          <a:xfrm>
            <a:off x="5669280" y="2560320"/>
            <a:ext cx="54864" cy="713232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4" name="Text 11"/>
          <p:cNvSpPr/>
          <p:nvPr/>
        </p:nvSpPr>
        <p:spPr>
          <a:xfrm>
            <a:off x="5806440" y="26334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06440" y="29077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— maximize detection of actual delinquents (minimize false negatives)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3337560"/>
            <a:ext cx="3200400" cy="71323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Shape 14"/>
          <p:cNvSpPr/>
          <p:nvPr/>
        </p:nvSpPr>
        <p:spPr>
          <a:xfrm>
            <a:off x="5669280" y="3337560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5806440" y="34107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806440" y="36850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precision &amp; recall; prevent over-flagging all customers as risky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669280" y="4114800"/>
            <a:ext cx="3200400" cy="71323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1" name="Shape 18"/>
          <p:cNvSpPr/>
          <p:nvPr/>
        </p:nvSpPr>
        <p:spPr>
          <a:xfrm>
            <a:off x="5669280" y="4114800"/>
            <a:ext cx="54864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5806440" y="41879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806440" y="446227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test across location &amp; age cohorts to prevent discrimination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0" y="182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4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Reactive Recovery to Proactive Prevention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8138160" cy="141732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25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GOAL: Reduce delinquency rate of customers with &gt;30% credit utilization by 10% within the next 2 quarters (6 months).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181051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Implement an automated "Financial Health Nudge" — personalized SMS/app alert when customer crosses 30% utilization threshold, offering budget tips or temporary payment restructuring.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2788920"/>
            <a:ext cx="2606040" cy="205740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788920"/>
            <a:ext cx="26060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803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Outreach — Age 46–60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counselling and flexible repayment options for mid-life borrowers facing dependents &amp; mortgage pressure. Expected 15–20% reduction in false positives from this segment.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0" y="2788920"/>
            <a:ext cx="2606040" cy="205740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2788920"/>
            <a:ext cx="26060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28803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Risk Monitoring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20440" y="34290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Los Angeles portfolio monthly. Use location as a risk indicator, not disqualifier, to avoid redlining. Pair with demographic parity testing.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2200" y="2788920"/>
            <a:ext cx="2606040" cy="205740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18" name="Shape 16"/>
          <p:cNvSpPr/>
          <p:nvPr/>
        </p:nvSpPr>
        <p:spPr>
          <a:xfrm>
            <a:off x="6172200" y="2788920"/>
            <a:ext cx="26060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8803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Card Servicing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9360" y="34290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review cycle for business card accounts (~21.3% delinquency). Offer cash-flow smoothing products to reduce volatility-driven defaults.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&amp; Fairness Considerations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2062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4206240" cy="59436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270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Bias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(Redlining Risk)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671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 is a strong predictor — the model could unfairly penalize all applicants from that region regardless of individual creditworthiness.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493008"/>
            <a:ext cx="3931920" cy="36576"/>
          </a:xfrm>
          <a:prstGeom prst="rect">
            <a:avLst/>
          </a:prstGeom>
          <a:solidFill>
            <a:srgbClr val="E05C5C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566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82219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for Demographic Parity regularly. Use location as risk indicator only, never as a sole disqualifier.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463040"/>
            <a:ext cx="42062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463040"/>
            <a:ext cx="420624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5270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Discrimination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1671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4231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the 46–60 cohort as high-risk could lead to unfair credit tightening for middle-aged borrowers who are actually reliable.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37760" y="3493008"/>
            <a:ext cx="3931920" cy="36576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566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382219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Equal Opportunity constraints during training to ensure reliable borrowers in this group are not incorrectly flagged.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645152"/>
            <a:ext cx="8412480" cy="329184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6634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A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 Explainability — Example: "This account was flagged because the customer is utilizing a significant portion of their credit limit (&gt;30%) and resides in a region showing higher-than-average economic stress."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28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120640" cy="530352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325880"/>
            <a:ext cx="54864" cy="5303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9903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revealed weak continuous signals but strong categorical risk drivers — employment, card type, and location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947672"/>
            <a:ext cx="5120640" cy="530352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947672"/>
            <a:ext cx="54864" cy="5303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2082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high-risk segments: Age 46–60 (21.7%), Business cardholders (21.3%), and Los Angeles residents (19.6%)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569464"/>
            <a:ext cx="5120640" cy="530352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2569464"/>
            <a:ext cx="54864" cy="5303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4261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utilization &gt;30% is the key actionable early-warning trigger for proactive intervention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191256"/>
            <a:ext cx="5120640" cy="530352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191256"/>
            <a:ext cx="54864" cy="5303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6440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SHAP provides high-recall prediction with regulatory-compliant transparency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813048"/>
            <a:ext cx="5120640" cy="530352"/>
          </a:xfrm>
          <a:prstGeom prst="rect">
            <a:avLst/>
          </a:prstGeom>
          <a:solidFill>
            <a:srgbClr val="1A2E4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813048"/>
            <a:ext cx="54864" cy="5303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8862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anomaly (higher score → higher delinquency) requires urgent data lineage investigation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6583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35040" y="1234440"/>
            <a:ext cx="41148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10528" y="125272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Employment_Status labels; investigate Credit Score anomaly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2130552"/>
            <a:ext cx="41148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2130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10528" y="21488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validate XGBoost model; establish SHAP baselines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3026664"/>
            <a:ext cx="41148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30266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10528" y="304495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Financial Health Nudge for &gt;30% utilization customers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3922776"/>
            <a:ext cx="41148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0" y="39227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10528" y="394106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B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impact; run demographic parity audit; iterate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4360" y="4754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Financial  |  Collections &amp; Risk Analytics  |  May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Geldium Credit Delinquency Analysis</dc:title>
  <dc:subject>PptxGenJS Presentation</dc:subject>
  <dc:creator>PptxGenJS</dc:creator>
  <cp:lastModifiedBy>PptxGenJS</cp:lastModifiedBy>
  <cp:revision>1</cp:revision>
  <dcterms:created xsi:type="dcterms:W3CDTF">2026-05-20T07:49:32Z</dcterms:created>
  <dcterms:modified xsi:type="dcterms:W3CDTF">2026-05-20T07:49:32Z</dcterms:modified>
</cp:coreProperties>
</file>